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uce" charset="1" panose="00000500000000000000"/>
      <p:regular r:id="rId21"/>
    </p:embeddedFont>
    <p:embeddedFont>
      <p:font typeface="Alegreya Sans Bold" charset="1" panose="00000800000000000000"/>
      <p:regular r:id="rId22"/>
    </p:embeddedFont>
    <p:embeddedFont>
      <p:font typeface="Alegreya Sans" charset="1" panose="00000500000000000000"/>
      <p:regular r:id="rId23"/>
    </p:embeddedFont>
    <p:embeddedFont>
      <p:font typeface="Open Sauce Bold" charset="1" panose="00000800000000000000"/>
      <p:regular r:id="rId24"/>
    </p:embeddedFont>
    <p:embeddedFont>
      <p:font typeface="Open Sauce Italics" charset="1" panose="00000500000000000000"/>
      <p:regular r:id="rId25"/>
    </p:embeddedFont>
    <p:embeddedFont>
      <p:font typeface="Open Sauce Medium" charset="1" panose="000006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ev.to/thegdsks/how-to-read-any-legacy-codebase-the-archaeology-playbook-19bh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rxiv.org/abs/2412.14234" TargetMode="External" Type="http://schemas.openxmlformats.org/officeDocument/2006/relationships/hyperlink"/><Relationship Id="rId3" Target="https://arxiv.org/abs/2510.03879" TargetMode="External" Type="http://schemas.openxmlformats.org/officeDocument/2006/relationships/hyperlink"/><Relationship Id="rId4" Target="https://doi.org/10.1145/3729379" TargetMode="External" Type="http://schemas.openxmlformats.org/officeDocument/2006/relationships/hyperlink"/><Relationship Id="rId5" Target="https://arxiv.org/abs/2501.14257" TargetMode="External" Type="http://schemas.openxmlformats.org/officeDocument/2006/relationships/hyperlink"/><Relationship Id="rId6" Target="https://arxiv.org/abs/2504.15254" TargetMode="External" Type="http://schemas.openxmlformats.org/officeDocument/2006/relationships/hyperlink"/><Relationship Id="rId7" Target="https://proceedings.neurips.cc/paper_files/paper/2024/hash/5a7c947568c1b1328ccc5230172e1e7c-Abstract-Conference.html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rxiv.org/abs/2510.18863" TargetMode="External" Type="http://schemas.openxmlformats.org/officeDocument/2006/relationships/hyperlink"/><Relationship Id="rId3" Target="https://arxiv.org/abs/2508.04295" TargetMode="External" Type="http://schemas.openxmlformats.org/officeDocument/2006/relationships/hyperlink"/><Relationship Id="rId4" Target="https://arxiv.org/abs/2508.06926" TargetMode="External" Type="http://schemas.openxmlformats.org/officeDocument/2006/relationships/hyperlink"/><Relationship Id="rId5" Target="https://arxiv.org/abs/2510.10956" TargetMode="External" Type="http://schemas.openxmlformats.org/officeDocument/2006/relationships/hyperlink"/><Relationship Id="rId6" Target="https://arxiv.org/abs/2505.15858" TargetMode="External" Type="http://schemas.openxmlformats.org/officeDocument/2006/relationships/hyperlink"/><Relationship Id="rId7" Target="https://doi.org/10.1145/3729315" TargetMode="External" Type="http://schemas.openxmlformats.org/officeDocument/2006/relationships/hyperlink"/><Relationship Id="rId8" Target="https://arxiv.org/abs/2508.17720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rxiv.org/abs/2511.20617" TargetMode="External" Type="http://schemas.openxmlformats.org/officeDocument/2006/relationships/hyperlink"/><Relationship Id="rId3" Target="https://doi.org/10.1007/978-981-96-5491-2_16" TargetMode="External" Type="http://schemas.openxmlformats.org/officeDocument/2006/relationships/hyperlink"/><Relationship Id="rId4" Target="https://arxiv.org/abs/2503.12511" TargetMode="External" Type="http://schemas.openxmlformats.org/officeDocument/2006/relationships/hyperlink"/><Relationship Id="rId5" Target="https://doi.org/10.1145/3729287" TargetMode="External" Type="http://schemas.openxmlformats.org/officeDocument/2006/relationships/hyperlink"/><Relationship Id="rId6" Target="https://arxiv.org/abs/2604.07341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45745" y="74480"/>
            <a:ext cx="3813555" cy="2457080"/>
            <a:chOff x="0" y="0"/>
            <a:chExt cx="5084741" cy="3276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808634" y="0"/>
              <a:ext cx="3276106" cy="3276106"/>
            </a:xfrm>
            <a:custGeom>
              <a:avLst/>
              <a:gdLst/>
              <a:ahLst/>
              <a:cxnLst/>
              <a:rect r="r" b="b" t="t" l="l"/>
              <a:pathLst>
                <a:path h="3276106" w="3276106">
                  <a:moveTo>
                    <a:pt x="0" y="0"/>
                  </a:moveTo>
                  <a:lnTo>
                    <a:pt x="3276107" y="0"/>
                  </a:lnTo>
                  <a:lnTo>
                    <a:pt x="3276107" y="3276106"/>
                  </a:lnTo>
                  <a:lnTo>
                    <a:pt x="0" y="3276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69921"/>
              <a:ext cx="1660065" cy="1660065"/>
            </a:xfrm>
            <a:custGeom>
              <a:avLst/>
              <a:gdLst/>
              <a:ahLst/>
              <a:cxnLst/>
              <a:rect r="r" b="b" t="t" l="l"/>
              <a:pathLst>
                <a:path h="1660065" w="1660065">
                  <a:moveTo>
                    <a:pt x="0" y="0"/>
                  </a:moveTo>
                  <a:lnTo>
                    <a:pt x="1660065" y="0"/>
                  </a:lnTo>
                  <a:lnTo>
                    <a:pt x="1660065" y="1660064"/>
                  </a:lnTo>
                  <a:lnTo>
                    <a:pt x="0" y="1660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33450" y="2696608"/>
            <a:ext cx="12512295" cy="503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Agentic</a:t>
            </a:r>
          </a:p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Repository-level</a:t>
            </a:r>
          </a:p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Code Translation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Software Modernization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97168" y="7834156"/>
            <a:ext cx="615532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Seacord, R. C., Plakosh, D., &amp; Lewis, G. A. (2003). </a:t>
            </a:r>
            <a:r>
              <a:rPr lang="en-US" b="true" sz="15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Modernizing legacy systems: Software technologies, engineering processes, and business practices.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ison-W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ley 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Prof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sio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24228" y="4036273"/>
            <a:ext cx="10239544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“Softw</a:t>
            </a: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are modernization attempts to ev</a:t>
            </a: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olve</a:t>
            </a:r>
          </a:p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legacy system, or elements of the system,</a:t>
            </a:r>
          </a:p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hen conventionally evolutionary practices,</a:t>
            </a:r>
          </a:p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such as maintenance and enhancement,</a:t>
            </a:r>
          </a:p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can no longer achieve the desired system properties.”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68072" y="3216597"/>
            <a:ext cx="10942349" cy="5546403"/>
          </a:xfrm>
          <a:custGeom>
            <a:avLst/>
            <a:gdLst/>
            <a:ahLst/>
            <a:cxnLst/>
            <a:rect r="r" b="b" t="t" l="l"/>
            <a:pathLst>
              <a:path h="5546403" w="10942349">
                <a:moveTo>
                  <a:pt x="0" y="0"/>
                </a:moveTo>
                <a:lnTo>
                  <a:pt x="10942349" y="0"/>
                </a:lnTo>
                <a:lnTo>
                  <a:pt x="10942349" y="5546403"/>
                </a:lnTo>
                <a:lnTo>
                  <a:pt x="0" y="554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89777"/>
            <a:ext cx="162306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Software Modernization, categorized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68072" y="8734425"/>
            <a:ext cx="1015185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Assunção, W. K. G., Marchezan, L., Egyed, A., &amp; Ramler, R. (2024). </a:t>
            </a:r>
            <a:r>
              <a:rPr lang="en-US" b="true" sz="15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Contemporary software modernization: Perspectives and challenges to deal with legacy systems.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arXiv. </a:t>
            </a:r>
            <a:r>
              <a:rPr lang="en-US" sz="15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https://doi.org/10.48550/arXiv.2407.04017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162306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Repository-level Code Translation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24228" y="4341073"/>
            <a:ext cx="10239544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“Repository-level code translation refers to translating an entire code repository from one programming language to another while preserving the functionality of the source repository.”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97168" y="7834156"/>
            <a:ext cx="615532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Wang, Y., Wang, Y., Wang, S., Guo, D., Chen, J., Grundy, J., Liu, X., Ma, Y., Mao, M., Zhang, H., &amp; Zheng, Z. (2024). </a:t>
            </a:r>
            <a:r>
              <a:rPr lang="en-US" b="true" sz="15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RepoTransBench: A real-world benchmark for repository-level code translation.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arXiv. </a:t>
            </a:r>
            <a:r>
              <a:rPr lang="en-US" sz="15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https://doi.org/10.48550/arXiv.2412.17744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2869147"/>
            <a:ext cx="13084230" cy="5650752"/>
          </a:xfrm>
          <a:custGeom>
            <a:avLst/>
            <a:gdLst/>
            <a:ahLst/>
            <a:cxnLst/>
            <a:rect r="r" b="b" t="t" l="l"/>
            <a:pathLst>
              <a:path h="5650752" w="13084230">
                <a:moveTo>
                  <a:pt x="0" y="0"/>
                </a:moveTo>
                <a:lnTo>
                  <a:pt x="13084230" y="0"/>
                </a:lnTo>
                <a:lnTo>
                  <a:pt x="13084230" y="5650752"/>
                </a:lnTo>
                <a:lnTo>
                  <a:pt x="0" y="565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162306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Repository-level Code Translation, formalized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05454" y="8734425"/>
            <a:ext cx="112770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Ibrahimzada, A. R., Paulsen, B., Kroening, D., &amp; Jabbarvand, R. (2026). </a:t>
            </a:r>
            <a:r>
              <a:rPr lang="en-US" b="true" sz="15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ReCodeAgent: A multi-agent workflow for language-agnostic translation and validation of large-scale repositories.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arXiv. </a:t>
            </a:r>
            <a:r>
              <a:rPr lang="en-US" sz="15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https://doi.org/10.48550/arXiv.2604.07341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49128" y="3069841"/>
            <a:ext cx="811369" cy="1759066"/>
          </a:xfrm>
          <a:custGeom>
            <a:avLst/>
            <a:gdLst/>
            <a:ahLst/>
            <a:cxnLst/>
            <a:rect r="r" b="b" t="t" l="l"/>
            <a:pathLst>
              <a:path h="1759066" w="811369">
                <a:moveTo>
                  <a:pt x="0" y="0"/>
                </a:moveTo>
                <a:lnTo>
                  <a:pt x="811369" y="0"/>
                </a:lnTo>
                <a:lnTo>
                  <a:pt x="811369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8914" y="3565141"/>
            <a:ext cx="1117351" cy="1151414"/>
          </a:xfrm>
          <a:custGeom>
            <a:avLst/>
            <a:gdLst/>
            <a:ahLst/>
            <a:cxnLst/>
            <a:rect r="r" b="b" t="t" l="l"/>
            <a:pathLst>
              <a:path h="1151414" w="1117351">
                <a:moveTo>
                  <a:pt x="0" y="0"/>
                </a:moveTo>
                <a:lnTo>
                  <a:pt x="1117351" y="0"/>
                </a:lnTo>
                <a:lnTo>
                  <a:pt x="1117351" y="1151414"/>
                </a:lnTo>
                <a:lnTo>
                  <a:pt x="0" y="1151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71832"/>
            <a:ext cx="43101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Rule-based Translation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30022"/>
            <a:ext cx="431017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“[...] rely on predefined patterns to guide the translation process.”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88914" y="5371832"/>
            <a:ext cx="43101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Neuro-symbolic Translation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8914" y="6130022"/>
            <a:ext cx="431017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“[...] combine large language models (LLMs) with (symbolic) program analysis and testing.”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49128" y="5371832"/>
            <a:ext cx="43101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Agentic Translation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49128" y="6130022"/>
            <a:ext cx="4310172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“[...] one or more LLM agents work together to translate code between specific source-target PLs.”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989777"/>
            <a:ext cx="162306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Repository-level Code Translation, categorized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06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3565141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95912" y="8734425"/>
            <a:ext cx="1389617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Ibrahimzada, A. R., Paulsen, B., Kroening, D., &amp; Jabbarvand, R. (2026). </a:t>
            </a:r>
            <a:r>
              <a:rPr lang="en-US" sz="15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ReCodeAgent: A multi-agent workflow for language-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agnostic translation and validation of large-scale repositories.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arXiv. </a:t>
            </a:r>
            <a:r>
              <a:rPr lang="en-US" sz="15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https://doi.org/10.48550/arXiv.2604.07341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039046"/>
            <a:ext cx="431017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“[...] all translation rules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are written by hand.”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95912" y="8191500"/>
            <a:ext cx="1389617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Luo, F., Ji, K., Gao, C., Gao, S., Feng, J., Liu, K., Xia, X., &amp; Lyu, M. R. (2025). </a:t>
            </a:r>
            <a:r>
              <a:rPr lang="en-US" b="true" sz="15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Integrating rules and semantics for LLM-based C-to-Rust translation.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2025 IEEE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Intern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ation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ce 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on S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wa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Maintenance and Evolution (ICSME) (pp. 685–696). IEEE. </a:t>
            </a:r>
            <a:r>
              <a:rPr lang="en-US" sz="15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https://doi.org/10.1109/ICSME64153.2025.00069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162306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Agentic Repository-level Code Translation, [...]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24228" y="5255473"/>
            <a:ext cx="1023954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&lt;PENDING&gt;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97168" y="7834156"/>
            <a:ext cx="615532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&lt;PENDING&gt;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2008" y="3051179"/>
            <a:ext cx="14043985" cy="5546403"/>
          </a:xfrm>
          <a:custGeom>
            <a:avLst/>
            <a:gdLst/>
            <a:ahLst/>
            <a:cxnLst/>
            <a:rect r="r" b="b" t="t" l="l"/>
            <a:pathLst>
              <a:path h="5546403" w="14043985">
                <a:moveTo>
                  <a:pt x="0" y="0"/>
                </a:moveTo>
                <a:lnTo>
                  <a:pt x="14043984" y="0"/>
                </a:lnTo>
                <a:lnTo>
                  <a:pt x="14043984" y="5546403"/>
                </a:lnTo>
                <a:lnTo>
                  <a:pt x="0" y="554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5454" y="8734425"/>
            <a:ext cx="112770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Ibrahimzada, A. R., Paulsen, B., Kroening, D., &amp; Jabbarvand, R. (2026). </a:t>
            </a:r>
            <a:r>
              <a:rPr lang="en-US" b="true" sz="15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ReCodeAgent: A multi-agent workflow for language-agnostic translation and validation of large-scale repositories.</a:t>
            </a:r>
            <a:r>
              <a:rPr lang="en-US" sz="15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arXiv. </a:t>
            </a:r>
            <a:r>
              <a:rPr lang="en-US" sz="15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https://doi.org/10.48550/arXiv.2604.07341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162306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Agentic Repository-level Code Translation, exemplified:</a:t>
            </a:r>
          </a:p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ReCodeAgent’s 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33758"/>
            <a:ext cx="8608644" cy="6041703"/>
            <a:chOff x="0" y="0"/>
            <a:chExt cx="1721600" cy="1208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1600" cy="1208250"/>
            </a:xfrm>
            <a:custGeom>
              <a:avLst/>
              <a:gdLst/>
              <a:ahLst/>
              <a:cxnLst/>
              <a:rect r="r" b="b" t="t" l="l"/>
              <a:pathLst>
                <a:path h="1208250" w="1721600">
                  <a:moveTo>
                    <a:pt x="860800" y="0"/>
                  </a:moveTo>
                  <a:cubicBezTo>
                    <a:pt x="385393" y="0"/>
                    <a:pt x="0" y="270476"/>
                    <a:pt x="0" y="604125"/>
                  </a:cubicBezTo>
                  <a:cubicBezTo>
                    <a:pt x="0" y="937774"/>
                    <a:pt x="385393" y="1208250"/>
                    <a:pt x="860800" y="1208250"/>
                  </a:cubicBezTo>
                  <a:cubicBezTo>
                    <a:pt x="1336207" y="1208250"/>
                    <a:pt x="1721600" y="937774"/>
                    <a:pt x="1721600" y="604125"/>
                  </a:cubicBezTo>
                  <a:cubicBezTo>
                    <a:pt x="1721600" y="270476"/>
                    <a:pt x="1336207" y="0"/>
                    <a:pt x="860800" y="0"/>
                  </a:cubicBezTo>
                  <a:close/>
                </a:path>
              </a:pathLst>
            </a:custGeom>
            <a:solidFill>
              <a:srgbClr val="F4CAC7"/>
            </a:solidFill>
            <a:ln w="28575" cap="sq">
              <a:solidFill>
                <a:srgbClr val="331B0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61400" y="103748"/>
              <a:ext cx="1398800" cy="99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67535" y="3751913"/>
            <a:ext cx="7132035" cy="5005392"/>
            <a:chOff x="0" y="0"/>
            <a:chExt cx="1721600" cy="1208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1600" cy="1208250"/>
            </a:xfrm>
            <a:custGeom>
              <a:avLst/>
              <a:gdLst/>
              <a:ahLst/>
              <a:cxnLst/>
              <a:rect r="r" b="b" t="t" l="l"/>
              <a:pathLst>
                <a:path h="1208250" w="1721600">
                  <a:moveTo>
                    <a:pt x="860800" y="0"/>
                  </a:moveTo>
                  <a:cubicBezTo>
                    <a:pt x="385393" y="0"/>
                    <a:pt x="0" y="270476"/>
                    <a:pt x="0" y="604125"/>
                  </a:cubicBezTo>
                  <a:cubicBezTo>
                    <a:pt x="0" y="937774"/>
                    <a:pt x="385393" y="1208250"/>
                    <a:pt x="860800" y="1208250"/>
                  </a:cubicBezTo>
                  <a:cubicBezTo>
                    <a:pt x="1336207" y="1208250"/>
                    <a:pt x="1721600" y="937774"/>
                    <a:pt x="1721600" y="604125"/>
                  </a:cubicBezTo>
                  <a:cubicBezTo>
                    <a:pt x="1721600" y="270476"/>
                    <a:pt x="1336207" y="0"/>
                    <a:pt x="860800" y="0"/>
                  </a:cubicBezTo>
                  <a:close/>
                </a:path>
              </a:pathLst>
            </a:custGeom>
            <a:solidFill>
              <a:srgbClr val="E2E8F5"/>
            </a:solidFill>
            <a:ln w="28575" cap="sq">
              <a:solidFill>
                <a:srgbClr val="331B0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61400" y="103748"/>
              <a:ext cx="1398800" cy="99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56688" y="4263584"/>
            <a:ext cx="5673907" cy="3982051"/>
            <a:chOff x="0" y="0"/>
            <a:chExt cx="1721600" cy="1208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1600" cy="1208250"/>
            </a:xfrm>
            <a:custGeom>
              <a:avLst/>
              <a:gdLst/>
              <a:ahLst/>
              <a:cxnLst/>
              <a:rect r="r" b="b" t="t" l="l"/>
              <a:pathLst>
                <a:path h="1208250" w="1721600">
                  <a:moveTo>
                    <a:pt x="860800" y="0"/>
                  </a:moveTo>
                  <a:cubicBezTo>
                    <a:pt x="385393" y="0"/>
                    <a:pt x="0" y="270476"/>
                    <a:pt x="0" y="604125"/>
                  </a:cubicBezTo>
                  <a:cubicBezTo>
                    <a:pt x="0" y="937774"/>
                    <a:pt x="385393" y="1208250"/>
                    <a:pt x="860800" y="1208250"/>
                  </a:cubicBezTo>
                  <a:cubicBezTo>
                    <a:pt x="1336207" y="1208250"/>
                    <a:pt x="1721600" y="937774"/>
                    <a:pt x="1721600" y="604125"/>
                  </a:cubicBezTo>
                  <a:cubicBezTo>
                    <a:pt x="1721600" y="270476"/>
                    <a:pt x="1336207" y="0"/>
                    <a:pt x="860800" y="0"/>
                  </a:cubicBezTo>
                  <a:close/>
                </a:path>
              </a:pathLst>
            </a:custGeom>
            <a:solidFill>
              <a:srgbClr val="DAECD9"/>
            </a:solidFill>
            <a:ln w="28575" cap="sq">
              <a:solidFill>
                <a:srgbClr val="331B0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61400" y="103748"/>
              <a:ext cx="1398800" cy="99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30367" y="4788938"/>
            <a:ext cx="4176785" cy="2931343"/>
            <a:chOff x="0" y="0"/>
            <a:chExt cx="1721600" cy="1208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1600" cy="1208250"/>
            </a:xfrm>
            <a:custGeom>
              <a:avLst/>
              <a:gdLst/>
              <a:ahLst/>
              <a:cxnLst/>
              <a:rect r="r" b="b" t="t" l="l"/>
              <a:pathLst>
                <a:path h="1208250" w="1721600">
                  <a:moveTo>
                    <a:pt x="860800" y="0"/>
                  </a:moveTo>
                  <a:cubicBezTo>
                    <a:pt x="385393" y="0"/>
                    <a:pt x="0" y="270476"/>
                    <a:pt x="0" y="604125"/>
                  </a:cubicBezTo>
                  <a:cubicBezTo>
                    <a:pt x="0" y="937774"/>
                    <a:pt x="385393" y="1208250"/>
                    <a:pt x="860800" y="1208250"/>
                  </a:cubicBezTo>
                  <a:cubicBezTo>
                    <a:pt x="1336207" y="1208250"/>
                    <a:pt x="1721600" y="937774"/>
                    <a:pt x="1721600" y="604125"/>
                  </a:cubicBezTo>
                  <a:cubicBezTo>
                    <a:pt x="1721600" y="270476"/>
                    <a:pt x="1336207" y="0"/>
                    <a:pt x="860800" y="0"/>
                  </a:cubicBezTo>
                  <a:close/>
                </a:path>
              </a:pathLst>
            </a:custGeom>
            <a:solidFill>
              <a:srgbClr val="FCEECA"/>
            </a:solidFill>
            <a:ln w="28575" cap="sq">
              <a:solidFill>
                <a:srgbClr val="331B0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61400" y="103748"/>
              <a:ext cx="1398800" cy="99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8131713" y="3039751"/>
            <a:ext cx="2719297" cy="919666"/>
          </a:xfrm>
          <a:prstGeom prst="line">
            <a:avLst/>
          </a:prstGeom>
          <a:ln cap="flat" w="38100">
            <a:solidFill>
              <a:srgbClr val="331B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889812" y="3784301"/>
            <a:ext cx="176147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Migration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42418" y="4915870"/>
            <a:ext cx="311951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Repository-level</a:t>
            </a:r>
          </a:p>
          <a:p>
            <a:pPr algn="r">
              <a:lnSpc>
                <a:spcPts val="30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Code Translation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19700" y="5692634"/>
            <a:ext cx="334550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Agentic</a:t>
            </a:r>
          </a:p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Repository-level</a:t>
            </a:r>
          </a:p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Code Translation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8619613" y="4228514"/>
            <a:ext cx="2172815" cy="463814"/>
          </a:xfrm>
          <a:prstGeom prst="line">
            <a:avLst/>
          </a:prstGeom>
          <a:ln cap="flat" w="38100">
            <a:solidFill>
              <a:srgbClr val="331B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8970623" y="5535345"/>
            <a:ext cx="2391196" cy="58486"/>
          </a:xfrm>
          <a:prstGeom prst="line">
            <a:avLst/>
          </a:prstGeom>
          <a:ln cap="flat" w="38100">
            <a:solidFill>
              <a:srgbClr val="331B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989777"/>
            <a:ext cx="162306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Research Direction, summarized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09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89812" y="2652733"/>
            <a:ext cx="445815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Software Modernization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221132"/>
            <a:ext cx="456238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Agentic Harness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979322"/>
            <a:ext cx="431017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how to design an E2E workflow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leveraging LLM agents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88914" y="5221132"/>
            <a:ext cx="43101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Program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88914" y="5979322"/>
            <a:ext cx="431017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how to provide LLM agents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with structured understanding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of a repository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49128" y="5221132"/>
            <a:ext cx="43101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Software Archaeology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49128" y="5979322"/>
            <a:ext cx="431017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how to do repository-level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code translation by hand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89777"/>
            <a:ext cx="162306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Prerequisites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381024"/>
            <a:ext cx="35543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8914" y="4381024"/>
            <a:ext cx="359033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49128" y="4381024"/>
            <a:ext cx="363041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343640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69090" y="1846902"/>
            <a:ext cx="1149021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Prerequisites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69090" y="2511747"/>
            <a:ext cx="1149021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GDS K S. (2026, May 17). </a:t>
            </a:r>
            <a:r>
              <a:rPr lang="en-US" b="true" sz="20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to read any legacy codebase: The archaeology playbook.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DEV Community.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2" tooltip="https://dev.to/thegdsks/how-to-read-any-legacy-codebase-the-archaeology-playbook-19bh"/>
              </a:rPr>
              <a:t>https://dev.to/thegdsks/how-to-read-any-legacy-codebase-the-archaeology-playbook-19bh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343640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69090" y="1846902"/>
            <a:ext cx="1149021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Related 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69090" y="2511747"/>
            <a:ext cx="11490210" cy="641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Shetty, M., Jain, N., Godbole, A., Seshia, S. A., &amp; Sen, K. (2024).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Syzygy: Dual code-test C to (safe) Rust translation using LLMs and dynamic analysis.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arXiv:2412.14234.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2" tooltip="https://arxiv.org/abs/2412.14234"/>
              </a:rPr>
              <a:t>https://arxiv.org/abs/2412.14234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Li, T., Li, R., Wang, B., Paulsen, B., Mathur, U., &amp; Saxena, P.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Adversarial agent collaboration for C to Rust translation.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arXiv:2510.03879.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3" tooltip="https://arxiv.org/abs/2510.03879"/>
              </a:rPr>
              <a:t>https://arxiv.org/abs/2510.03879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Ibrahimzada, A. R., Ke, K., Pawagi, M., Abid, M. S., Pan, R., Sinha, S., &amp; Jabbarvand, R.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AlphaTrans: A neuro-symbolic compositional approach for repository-level code translation and validation.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Proceedings of the ACM on Software Engineering, 2(FSE), Article FSE109.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4" tooltip="https://doi.org/10.1145/3729379"/>
              </a:rPr>
              <a:t>https://doi.org/10.1145/3729379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Nitin, V., Krishna, R., do Valle, L. L., &amp; Ray, B.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C2SaferRust: Transforming C projects into safer Rust with neurosymbolic techniques.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arXiv:2501.14257.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5" tooltip="https://arxiv.org/abs/2501.14257"/>
              </a:rPr>
              <a:t>https://arxiv.org/abs/2501.14257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Khatry, A., Zhang, R., Pan, J., Wang, Z., Chen, Q., Durrett, G., &amp; Dillig, I.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CRUST-Bench: A comprehensive benchmark for C-to-safe-Rust transpilation.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arXiv:2504.15254.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6" tooltip="https://arxiv.org/abs/2504.15254"/>
              </a:rPr>
              <a:t>https://arxiv.org/abs/2504.15254</a:t>
            </a:r>
          </a:p>
          <a:p>
            <a:pPr algn="l" marL="0" indent="0" lvl="0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Yang, J., Jimenez, C. E., Wettig, A., Lieret, K., Yao, S., Narasimhan, K. R., &amp; Press, O. (2024). </a:t>
            </a:r>
            <a:r>
              <a:rPr lang="en-US" b="true" sz="20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SWE-agent: Agent-computer interfaces enable automated software engineering.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Advances in Neural Information Processing Systems, 37, 50528–50652.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7" tooltip="https://proceedings.neurips.cc/paper_files/paper/2024/hash/5a7c947568c1b1328ccc5230172e1e7c-Abstract-Conference.html"/>
              </a:rPr>
              <a:t>https://proceedings.neurips.cc/paper_files/paper/2024/hash/5a7c947568c1b1328ccc5230172e1e7c-Abstract-Conference.html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343640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69090" y="1846902"/>
            <a:ext cx="1149021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Related 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69090" y="2511747"/>
            <a:ext cx="11490210" cy="641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Wang, Y., Ou, R., Wang, Y., Liu, M., Chen, J., Shi, E., . . . Zheng, Z.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EffiReasonTrans: RL-optimized reasoning for code translation.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arXiv:2510.18863.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2" tooltip="https://arxiv.org/abs/2510.18863"/>
              </a:rPr>
              <a:t>https://arxiv.org/abs/2510.18863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Wang, C., Yu, T., Wang, J., Chen, D., Zhang, W., Shi, Y., . . . Shen, B.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EvoC2Rust: A skeleton-guided framework for project-level C-to-Rust translation.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arXiv:2508.04295.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3" tooltip="https://arxiv.org/abs/2508.04295"/>
              </a:rPr>
              <a:t>https://arxiv.org/abs/2508.04295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Luo, F., Ji, K., Gao, C., Gao, S., Feng, J., Liu, K., . . . Lyu, M. R.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Integrating rules and semantics for LLM-based C-to-Rust translation. 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arXiv preprint arXiv:2508.06926.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4" tooltip="https://arxiv.org/abs/2508.06926"/>
              </a:rPr>
              <a:t>https://arxiv.org/abs/2508.06926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Yuan, Z., Mao, W., Chen, Z., Shang, X., Wang, C., Lou, Y., &amp; Peng, X.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Project-level C-to-Rust translation via pointer knowledge graphs.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arXiv:2510.10956.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5" tooltip="https://arxiv.org/abs/2510.10956"/>
              </a:rPr>
              <a:t>https://arxiv.org/abs/2510.10956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Sim, H., Cho, H., Go, Y., Fu, Z., Shokri, A., &amp; Ravindran, B.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Large language model-powered agent for C to Rust code translation. 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arXiv preprint arXiv:2505.15858.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6" tooltip="https://arxiv.org/abs/2505.15858"/>
              </a:rPr>
              <a:t>https://arxiv.org/abs/2505.15858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Zhang, H., David, C., Wang, M., Paulsen, B., &amp; Kroening, D.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Scalable, validated code translation of entire projects using large language models.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Proceedings of the ACM on Programming Languages, 9(PLDI), Article 212.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7" tooltip="https://doi.org/10.1145/3729315"/>
              </a:rPr>
              <a:t>https://doi.org/10.1145/3729315</a:t>
            </a:r>
          </a:p>
          <a:p>
            <a:pPr algn="l" marL="0" indent="0" lvl="0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Guan, Z., Yin, X., Peng, Z., &amp; Ni, C. (2025). </a:t>
            </a:r>
            <a:r>
              <a:rPr lang="en-US" b="true" sz="20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RepoTransAgent: Multi-agent LLM framework for repository-aware code translation.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arXiv:2508.17720.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8" tooltip="https://arxiv.org/abs/2508.17720"/>
              </a:rPr>
              <a:t>https://arxiv.org/abs/2508.17720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343640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69090" y="1846902"/>
            <a:ext cx="1149021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Related 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69090" y="2511747"/>
            <a:ext cx="11490210" cy="488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Dehghan, S., Sun, T., Wu, T., Li, Z., &amp; Jabbarvand, R.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Translating large-scale C repositories to idiomatic Rust.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arXiv:2511.20617.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2" tooltip="https://arxiv.org/abs/2511.20617"/>
              </a:rPr>
              <a:t>https://arxiv.org/abs/2511.20617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Cai, X., Liu, J., Huang, X., Yu, Y., Wu, H., Li, C., . . . Jiang, L.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RustMap: Towards project-scale C-to-Rust migration via program analysis and LLM.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In International Conference on Engineering of Complex Computer Systems (pp. 283–302). Cham, Switzerland: Springer.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3" tooltip="https://doi.org/10.1007/978-981-96-5491-2_16"/>
              </a:rPr>
              <a:t>https://doi.org/10.1007/978-981-96-5491-2_16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Zhou, T., Zhang, Z., Lin, H., Jha, S., Christodorescu, M., Levchenko, K., &amp; Chandrasekaran, V.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SACTOR: LLM-driven correct and idiomatic C to Rust translation with static analysis and FFI-based verification.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arXiv:2503.12511.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4" tooltip="https://arxiv.org/abs/2503.12511"/>
              </a:rPr>
              <a:t>https://arxiv.org/abs/2503.12511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Wang, B., Li, T., Li, R., Mathur, U., &amp; Saxena, P. (2025). </a:t>
            </a:r>
            <a:r>
              <a:rPr lang="en-US" sz="20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Program skeletons for automated program translation.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Proceedings of the ACM on Programming Languages, 9(PLDI), Article 184.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5" tooltip="https://doi.org/10.1145/3729287"/>
              </a:rPr>
              <a:t>https://doi.org/10.1145/3729287</a:t>
            </a:r>
          </a:p>
          <a:p>
            <a:pPr algn="l" marL="0" indent="0" lvl="0">
              <a:lnSpc>
                <a:spcPts val="2400"/>
              </a:lnSpc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Ibrahimzada, A. R., Paulsen, B., Kroening, D., &amp; Jabbarvand, R. (2026). </a:t>
            </a:r>
            <a:r>
              <a:rPr lang="en-US" b="true" sz="20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ReCodeAgent: A multi-agent workflow for language-agnostic translation and validation of large-scale repositories.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arXiv preprint arXiv:2604.07341.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  <a:hlinkClick r:id="rId6" tooltip="https://arxiv.org/abs/2604.07341"/>
              </a:rPr>
              <a:t>https://arxiv.org/abs/2604.07341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804910"/>
            <a:ext cx="4560684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31B0D"/>
                </a:solidFill>
                <a:latin typeface="Alegreya Sans"/>
                <a:ea typeface="Alegreya Sans"/>
                <a:cs typeface="Alegreya Sans"/>
                <a:sym typeface="Alegrey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19175"/>
            <a:ext cx="81153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Agentic Repository-level Code Translation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DAHQMxr9P7c</dc:identifier>
  <dcterms:modified xsi:type="dcterms:W3CDTF">2011-08-01T06:04:30Z</dcterms:modified>
  <cp:revision>1</cp:revision>
  <dc:title>Copy of SME-VNU | Research Direction</dc:title>
</cp:coreProperties>
</file>